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45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AF7F2"/>
                </a:solidFill>
                <a:latin typeface="Segoe UI"/>
              </a:defRPr>
            </a:pPr>
            <a:r>
              <a:t>MANUAL DE USUARIO</a:t>
            </a:r>
          </a:p>
          <a:p>
            <a:pPr>
              <a:spcBef>
                <a:spcPts val="1000"/>
              </a:spcBef>
              <a:defRPr sz="2400" b="1">
                <a:solidFill>
                  <a:srgbClr val="B45E3D"/>
                </a:solidFill>
                <a:latin typeface="Segoe UI"/>
              </a:defRPr>
            </a:pPr>
            <a:r>
              <a:t>Sistema de Gestión de Cajas &amp; Fondos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C6E60"/>
                </a:solidFill>
                <a:latin typeface="Segoe UI"/>
              </a:defRPr>
            </a:pPr>
            <a:r>
              <a:t>Guía completa para la operación, administración y configuración del sistema.</a:t>
            </a:r>
          </a:p>
          <a:p>
            <a:pPr>
              <a:spcBef>
                <a:spcPts val="800"/>
              </a:spcBef>
              <a:defRPr sz="1200" i="1">
                <a:solidFill>
                  <a:srgbClr val="7C6E60"/>
                </a:solidFill>
                <a:latin typeface="Segoe UI"/>
              </a:defRPr>
            </a:pPr>
            <a:r>
              <a:t>Edición 2026 • Soporte Multimotor SQLite /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48640"/>
            <a:ext cx="109728" cy="5760720"/>
          </a:xfrm>
          <a:prstGeom prst="rect">
            <a:avLst/>
          </a:prstGeom>
          <a:solidFill>
            <a:srgbClr val="B45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251E"/>
                </a:solidFill>
                <a:latin typeface="Segoe UI"/>
              </a:defRPr>
            </a:pPr>
            <a:r>
              <a:t>1. Introducción y Setup Wizard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789920" cy="2621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D251E"/>
                </a:solidFill>
                <a:latin typeface="Segoe UI"/>
              </a:defRPr>
            </a:pPr>
            <a:r>
              <a:rPr dirty="0" err="1"/>
              <a:t>Asistente</a:t>
            </a:r>
            <a:r>
              <a:rPr dirty="0"/>
              <a:t> </a:t>
            </a:r>
            <a:r>
              <a:rPr dirty="0" err="1"/>
              <a:t>guiado</a:t>
            </a:r>
            <a:r>
              <a:rPr dirty="0"/>
              <a:t> de 3 pasos que se </a:t>
            </a:r>
            <a:r>
              <a:rPr dirty="0" err="1"/>
              <a:t>ejecuta</a:t>
            </a:r>
            <a:r>
              <a:rPr dirty="0"/>
              <a:t> </a:t>
            </a:r>
            <a:r>
              <a:rPr dirty="0" err="1"/>
              <a:t>automáticamente</a:t>
            </a:r>
            <a:r>
              <a:rPr dirty="0"/>
              <a:t> ante </a:t>
            </a:r>
            <a:r>
              <a:rPr dirty="0" err="1"/>
              <a:t>una</a:t>
            </a:r>
            <a:r>
              <a:rPr dirty="0"/>
              <a:t> base de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vacía</a:t>
            </a:r>
            <a:r>
              <a:rPr dirty="0"/>
              <a:t>: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rPr dirty="0"/>
              <a:t>• </a:t>
            </a:r>
            <a:r>
              <a:rPr b="1" dirty="0">
                <a:solidFill>
                  <a:srgbClr val="2D251E"/>
                </a:solidFill>
              </a:rPr>
              <a:t>Datos de la </a:t>
            </a:r>
            <a:r>
              <a:rPr b="1" dirty="0" err="1">
                <a:solidFill>
                  <a:srgbClr val="2D251E"/>
                </a:solidFill>
              </a:rPr>
              <a:t>Organización</a:t>
            </a:r>
            <a:r>
              <a:rPr b="1" dirty="0">
                <a:solidFill>
                  <a:srgbClr val="2D251E"/>
                </a:solidFill>
              </a:rPr>
              <a:t>: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Ingrese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los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metadatos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institucionales</a:t>
            </a:r>
            <a:r>
              <a:rPr b="0" dirty="0">
                <a:solidFill>
                  <a:srgbClr val="2D251E"/>
                </a:solidFill>
              </a:rPr>
              <a:t> (</a:t>
            </a:r>
            <a:r>
              <a:rPr b="0" dirty="0" err="1">
                <a:solidFill>
                  <a:srgbClr val="2D251E"/>
                </a:solidFill>
              </a:rPr>
              <a:t>Nombre</a:t>
            </a:r>
            <a:r>
              <a:rPr b="0" dirty="0">
                <a:solidFill>
                  <a:srgbClr val="2D251E"/>
                </a:solidFill>
              </a:rPr>
              <a:t> de </a:t>
            </a:r>
            <a:r>
              <a:rPr b="0" dirty="0" err="1">
                <a:solidFill>
                  <a:srgbClr val="2D251E"/>
                </a:solidFill>
              </a:rPr>
              <a:t>Empresa</a:t>
            </a:r>
            <a:r>
              <a:rPr b="0" dirty="0">
                <a:solidFill>
                  <a:srgbClr val="2D251E"/>
                </a:solidFill>
              </a:rPr>
              <a:t>, CUIT, </a:t>
            </a:r>
            <a:r>
              <a:rPr b="0" dirty="0" err="1">
                <a:solidFill>
                  <a:srgbClr val="2D251E"/>
                </a:solidFill>
              </a:rPr>
              <a:t>Dirección</a:t>
            </a:r>
            <a:r>
              <a:rPr b="0" dirty="0">
                <a:solidFill>
                  <a:srgbClr val="2D251E"/>
                </a:solidFill>
              </a:rPr>
              <a:t> y </a:t>
            </a:r>
            <a:r>
              <a:rPr b="0" dirty="0" err="1">
                <a:solidFill>
                  <a:srgbClr val="2D251E"/>
                </a:solidFill>
              </a:rPr>
              <a:t>Teléfono</a:t>
            </a:r>
            <a:r>
              <a:rPr b="0" dirty="0">
                <a:solidFill>
                  <a:srgbClr val="2D251E"/>
                </a:solidFill>
              </a:rPr>
              <a:t>).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rPr dirty="0"/>
              <a:t>• </a:t>
            </a:r>
            <a:r>
              <a:rPr b="1" dirty="0" err="1">
                <a:solidFill>
                  <a:srgbClr val="2D251E"/>
                </a:solidFill>
              </a:rPr>
              <a:t>Ejercicio</a:t>
            </a:r>
            <a:r>
              <a:rPr b="1" dirty="0">
                <a:solidFill>
                  <a:srgbClr val="2D251E"/>
                </a:solidFill>
              </a:rPr>
              <a:t> </a:t>
            </a:r>
            <a:r>
              <a:rPr b="1" dirty="0" err="1">
                <a:solidFill>
                  <a:srgbClr val="2D251E"/>
                </a:solidFill>
              </a:rPr>
              <a:t>Económico</a:t>
            </a:r>
            <a:r>
              <a:rPr b="1" dirty="0">
                <a:solidFill>
                  <a:srgbClr val="2D251E"/>
                </a:solidFill>
              </a:rPr>
              <a:t>: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Defina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el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año</a:t>
            </a:r>
            <a:r>
              <a:rPr b="0" dirty="0">
                <a:solidFill>
                  <a:srgbClr val="2D251E"/>
                </a:solidFill>
              </a:rPr>
              <a:t> del </a:t>
            </a:r>
            <a:r>
              <a:rPr b="0" dirty="0" err="1">
                <a:solidFill>
                  <a:srgbClr val="2D251E"/>
                </a:solidFill>
              </a:rPr>
              <a:t>ejercicio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contable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inicial</a:t>
            </a:r>
            <a:r>
              <a:rPr b="0" dirty="0">
                <a:solidFill>
                  <a:srgbClr val="2D251E"/>
                </a:solidFill>
              </a:rPr>
              <a:t> (</a:t>
            </a:r>
            <a:r>
              <a:rPr b="0" dirty="0" err="1">
                <a:solidFill>
                  <a:srgbClr val="2D251E"/>
                </a:solidFill>
              </a:rPr>
              <a:t>ej</a:t>
            </a:r>
            <a:r>
              <a:rPr b="0" dirty="0">
                <a:solidFill>
                  <a:srgbClr val="2D251E"/>
                </a:solidFill>
              </a:rPr>
              <a:t>. 2026) y </a:t>
            </a:r>
            <a:r>
              <a:rPr b="0" dirty="0" err="1">
                <a:solidFill>
                  <a:srgbClr val="2D251E"/>
                </a:solidFill>
              </a:rPr>
              <a:t>su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fecha</a:t>
            </a:r>
            <a:r>
              <a:rPr b="0" dirty="0">
                <a:solidFill>
                  <a:srgbClr val="2D251E"/>
                </a:solidFill>
              </a:rPr>
              <a:t> de </a:t>
            </a:r>
            <a:r>
              <a:rPr b="0" dirty="0" err="1">
                <a:solidFill>
                  <a:srgbClr val="2D251E"/>
                </a:solidFill>
              </a:rPr>
              <a:t>inicio</a:t>
            </a:r>
            <a:r>
              <a:rPr b="0" dirty="0">
                <a:solidFill>
                  <a:srgbClr val="2D251E"/>
                </a:solidFill>
              </a:rPr>
              <a:t>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rPr dirty="0"/>
              <a:t>• </a:t>
            </a:r>
            <a:r>
              <a:rPr b="1" dirty="0">
                <a:solidFill>
                  <a:srgbClr val="2D251E"/>
                </a:solidFill>
              </a:rPr>
              <a:t>Modo Desarrollo (</a:t>
            </a:r>
            <a:r>
              <a:rPr b="1" dirty="0" err="1">
                <a:solidFill>
                  <a:srgbClr val="2D251E"/>
                </a:solidFill>
              </a:rPr>
              <a:t>Semillas</a:t>
            </a:r>
            <a:r>
              <a:rPr b="1" dirty="0">
                <a:solidFill>
                  <a:srgbClr val="2D251E"/>
                </a:solidFill>
              </a:rPr>
              <a:t>):</a:t>
            </a:r>
            <a:r>
              <a:rPr b="0" dirty="0">
                <a:solidFill>
                  <a:srgbClr val="2D251E"/>
                </a:solidFill>
              </a:rPr>
              <a:t> Si se </a:t>
            </a:r>
            <a:r>
              <a:rPr b="0" dirty="0" err="1">
                <a:solidFill>
                  <a:srgbClr val="2D251E"/>
                </a:solidFill>
              </a:rPr>
              <a:t>inicia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en</a:t>
            </a:r>
            <a:r>
              <a:rPr b="0" dirty="0">
                <a:solidFill>
                  <a:srgbClr val="2D251E"/>
                </a:solidFill>
              </a:rPr>
              <a:t> modo </a:t>
            </a:r>
            <a:r>
              <a:rPr b="0" dirty="0" err="1">
                <a:solidFill>
                  <a:srgbClr val="2D251E"/>
                </a:solidFill>
              </a:rPr>
              <a:t>desarrollo</a:t>
            </a:r>
            <a:r>
              <a:rPr b="0" dirty="0">
                <a:solidFill>
                  <a:srgbClr val="2D251E"/>
                </a:solidFill>
              </a:rPr>
              <a:t>, se </a:t>
            </a:r>
            <a:r>
              <a:rPr b="0" dirty="0" err="1">
                <a:solidFill>
                  <a:srgbClr val="2D251E"/>
                </a:solidFill>
              </a:rPr>
              <a:t>habilita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el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botón</a:t>
            </a:r>
            <a:r>
              <a:rPr b="0" dirty="0">
                <a:solidFill>
                  <a:srgbClr val="2D251E"/>
                </a:solidFill>
              </a:rPr>
              <a:t> '</a:t>
            </a:r>
            <a:r>
              <a:rPr b="0" dirty="0" err="1">
                <a:solidFill>
                  <a:srgbClr val="2D251E"/>
                </a:solidFill>
              </a:rPr>
              <a:t>Cargar</a:t>
            </a:r>
            <a:r>
              <a:rPr b="0" dirty="0">
                <a:solidFill>
                  <a:srgbClr val="2D251E"/>
                </a:solidFill>
              </a:rPr>
              <a:t> Datos de </a:t>
            </a:r>
            <a:r>
              <a:rPr b="0" dirty="0" err="1">
                <a:solidFill>
                  <a:srgbClr val="2D251E"/>
                </a:solidFill>
              </a:rPr>
              <a:t>Prueba</a:t>
            </a:r>
            <a:r>
              <a:rPr b="0" dirty="0">
                <a:solidFill>
                  <a:srgbClr val="2D251E"/>
                </a:solidFill>
              </a:rPr>
              <a:t>' para </a:t>
            </a:r>
            <a:r>
              <a:rPr b="0" dirty="0" err="1">
                <a:solidFill>
                  <a:srgbClr val="2D251E"/>
                </a:solidFill>
              </a:rPr>
              <a:t>poblar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automáticamente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tablas</a:t>
            </a:r>
            <a:r>
              <a:rPr b="0" dirty="0">
                <a:solidFill>
                  <a:srgbClr val="2D251E"/>
                </a:solidFill>
              </a:rPr>
              <a:t> con </a:t>
            </a:r>
            <a:r>
              <a:rPr b="0" dirty="0" err="1">
                <a:solidFill>
                  <a:srgbClr val="2D251E"/>
                </a:solidFill>
              </a:rPr>
              <a:t>áreas</a:t>
            </a:r>
            <a:r>
              <a:rPr b="0" dirty="0">
                <a:solidFill>
                  <a:srgbClr val="2D251E"/>
                </a:solidFill>
              </a:rPr>
              <a:t>, personas, </a:t>
            </a:r>
            <a:r>
              <a:rPr b="0" dirty="0" err="1">
                <a:solidFill>
                  <a:srgbClr val="2D251E"/>
                </a:solidFill>
              </a:rPr>
              <a:t>cajas</a:t>
            </a:r>
            <a:r>
              <a:rPr b="0" dirty="0">
                <a:solidFill>
                  <a:srgbClr val="2D251E"/>
                </a:solidFill>
              </a:rPr>
              <a:t> y </a:t>
            </a:r>
            <a:r>
              <a:rPr b="0" dirty="0" err="1">
                <a:solidFill>
                  <a:srgbClr val="2D251E"/>
                </a:solidFill>
              </a:rPr>
              <a:t>usuarios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semilla</a:t>
            </a:r>
            <a:r>
              <a:rPr b="0" dirty="0">
                <a:solidFill>
                  <a:srgbClr val="2D251E"/>
                </a:solidFill>
              </a:rPr>
              <a:t>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rPr dirty="0"/>
              <a:t>• </a:t>
            </a:r>
            <a:r>
              <a:rPr b="1" dirty="0" err="1">
                <a:solidFill>
                  <a:srgbClr val="2D251E"/>
                </a:solidFill>
              </a:rPr>
              <a:t>Usuario</a:t>
            </a:r>
            <a:r>
              <a:rPr b="1" dirty="0">
                <a:solidFill>
                  <a:srgbClr val="2D251E"/>
                </a:solidFill>
              </a:rPr>
              <a:t> </a:t>
            </a:r>
            <a:r>
              <a:rPr b="1" dirty="0" err="1">
                <a:solidFill>
                  <a:srgbClr val="2D251E"/>
                </a:solidFill>
              </a:rPr>
              <a:t>Administrador</a:t>
            </a:r>
            <a:r>
              <a:rPr b="1" dirty="0">
                <a:solidFill>
                  <a:srgbClr val="2D251E"/>
                </a:solidFill>
              </a:rPr>
              <a:t>:</a:t>
            </a:r>
            <a:r>
              <a:rPr b="0" dirty="0">
                <a:solidFill>
                  <a:srgbClr val="2D251E"/>
                </a:solidFill>
              </a:rPr>
              <a:t> Cree la </a:t>
            </a:r>
            <a:r>
              <a:rPr b="0" dirty="0" err="1">
                <a:solidFill>
                  <a:srgbClr val="2D251E"/>
                </a:solidFill>
              </a:rPr>
              <a:t>cuenta</a:t>
            </a:r>
            <a:r>
              <a:rPr b="0" dirty="0">
                <a:solidFill>
                  <a:srgbClr val="2D251E"/>
                </a:solidFill>
              </a:rPr>
              <a:t> con </a:t>
            </a:r>
            <a:r>
              <a:rPr b="0" dirty="0" err="1">
                <a:solidFill>
                  <a:srgbClr val="2D251E"/>
                </a:solidFill>
              </a:rPr>
              <a:t>el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nombre</a:t>
            </a:r>
            <a:r>
              <a:rPr b="0" dirty="0">
                <a:solidFill>
                  <a:srgbClr val="2D251E"/>
                </a:solidFill>
              </a:rPr>
              <a:t> de </a:t>
            </a:r>
            <a:r>
              <a:rPr b="0" dirty="0" err="1">
                <a:solidFill>
                  <a:srgbClr val="2D251E"/>
                </a:solidFill>
              </a:rPr>
              <a:t>usuario</a:t>
            </a:r>
            <a:r>
              <a:rPr b="0" dirty="0">
                <a:solidFill>
                  <a:srgbClr val="2D251E"/>
                </a:solidFill>
              </a:rPr>
              <a:t> de control principal ('admin') y </a:t>
            </a:r>
            <a:r>
              <a:rPr b="0" dirty="0" err="1">
                <a:solidFill>
                  <a:srgbClr val="2D251E"/>
                </a:solidFill>
              </a:rPr>
              <a:t>su</a:t>
            </a:r>
            <a:r>
              <a:rPr b="0" dirty="0">
                <a:solidFill>
                  <a:srgbClr val="2D251E"/>
                </a:solidFill>
              </a:rPr>
              <a:t> clave de </a:t>
            </a:r>
            <a:r>
              <a:rPr b="0" dirty="0" err="1">
                <a:solidFill>
                  <a:srgbClr val="2D251E"/>
                </a:solidFill>
              </a:rPr>
              <a:t>acceso</a:t>
            </a:r>
            <a:r>
              <a:rPr b="0" dirty="0">
                <a:solidFill>
                  <a:srgbClr val="2D251E"/>
                </a:solidFill>
              </a:rPr>
              <a:t>.</a:t>
            </a:r>
            <a:r>
              <a:rPr lang="es-419" b="0" dirty="0">
                <a:solidFill>
                  <a:srgbClr val="2D251E"/>
                </a:solidFill>
              </a:rPr>
              <a:t> Este Usuario debe ser usado únicamente para realizar configuración del sistema.</a:t>
            </a:r>
            <a:endParaRPr b="0" dirty="0">
              <a:solidFill>
                <a:srgbClr val="2D251E"/>
              </a:solidFill>
            </a:endParaRP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rPr dirty="0"/>
              <a:t>• </a:t>
            </a:r>
            <a:r>
              <a:rPr b="1" dirty="0" err="1">
                <a:solidFill>
                  <a:srgbClr val="2D251E"/>
                </a:solidFill>
              </a:rPr>
              <a:t>Formato</a:t>
            </a:r>
            <a:r>
              <a:rPr b="1" dirty="0">
                <a:solidFill>
                  <a:srgbClr val="2D251E"/>
                </a:solidFill>
              </a:rPr>
              <a:t> de </a:t>
            </a:r>
            <a:r>
              <a:rPr b="1" dirty="0" err="1">
                <a:solidFill>
                  <a:srgbClr val="2D251E"/>
                </a:solidFill>
              </a:rPr>
              <a:t>Fechas</a:t>
            </a:r>
            <a:r>
              <a:rPr b="1" dirty="0">
                <a:solidFill>
                  <a:srgbClr val="2D251E"/>
                </a:solidFill>
              </a:rPr>
              <a:t> global:</a:t>
            </a:r>
            <a:r>
              <a:rPr b="0" dirty="0">
                <a:solidFill>
                  <a:srgbClr val="2D251E"/>
                </a:solidFill>
              </a:rPr>
              <a:t> En </a:t>
            </a:r>
            <a:r>
              <a:rPr b="0" dirty="0" err="1">
                <a:solidFill>
                  <a:srgbClr val="2D251E"/>
                </a:solidFill>
              </a:rPr>
              <a:t>todo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el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sistema</a:t>
            </a:r>
            <a:r>
              <a:rPr b="0" dirty="0">
                <a:solidFill>
                  <a:srgbClr val="2D251E"/>
                </a:solidFill>
              </a:rPr>
              <a:t>, </a:t>
            </a:r>
            <a:r>
              <a:rPr b="0" dirty="0" err="1">
                <a:solidFill>
                  <a:srgbClr val="2D251E"/>
                </a:solidFill>
              </a:rPr>
              <a:t>el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ingreso</a:t>
            </a:r>
            <a:r>
              <a:rPr b="0" dirty="0">
                <a:solidFill>
                  <a:srgbClr val="2D251E"/>
                </a:solidFill>
              </a:rPr>
              <a:t> de </a:t>
            </a:r>
            <a:r>
              <a:rPr b="0" dirty="0" err="1">
                <a:solidFill>
                  <a:srgbClr val="2D251E"/>
                </a:solidFill>
              </a:rPr>
              <a:t>fechas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utiliza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calendarios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desplegables</a:t>
            </a:r>
            <a:r>
              <a:rPr b="0" dirty="0">
                <a:solidFill>
                  <a:srgbClr val="2D251E"/>
                </a:solidFill>
              </a:rPr>
              <a:t> y </a:t>
            </a:r>
            <a:r>
              <a:rPr b="0" dirty="0" err="1">
                <a:solidFill>
                  <a:srgbClr val="2D251E"/>
                </a:solidFill>
              </a:rPr>
              <a:t>el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formato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estándar</a:t>
            </a:r>
            <a:r>
              <a:rPr b="0" dirty="0">
                <a:solidFill>
                  <a:srgbClr val="2D251E"/>
                </a:solidFill>
              </a:rPr>
              <a:t> dd/MM/</a:t>
            </a:r>
            <a:r>
              <a:rPr b="0" dirty="0" err="1">
                <a:solidFill>
                  <a:srgbClr val="2D251E"/>
                </a:solidFill>
              </a:rPr>
              <a:t>yyyy</a:t>
            </a:r>
            <a:r>
              <a:rPr b="0" dirty="0">
                <a:solidFill>
                  <a:srgbClr val="2D251E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48640"/>
            <a:ext cx="109728" cy="5760720"/>
          </a:xfrm>
          <a:prstGeom prst="rect">
            <a:avLst/>
          </a:prstGeom>
          <a:solidFill>
            <a:srgbClr val="B45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251E"/>
                </a:solidFill>
                <a:latin typeface="Segoe UI"/>
              </a:defRPr>
            </a:pPr>
            <a:r>
              <a:t>2. Tablero Principal (Dashboard)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D251E"/>
                </a:solidFill>
                <a:latin typeface="Segoe UI"/>
              </a:defRPr>
            </a:pPr>
            <a:r>
              <a:t>Ofrece una vista analítica en tiempo real de los recursos económicos del ejercicio activo: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Cajas Chicas y Fondos Activos / Cerrados:</a:t>
            </a:r>
            <a:r>
              <a:rPr b="0">
                <a:solidFill>
                  <a:srgbClr val="2D251E"/>
                </a:solidFill>
              </a:rPr>
              <a:t> Conteo dinámico de cajas vigentes e inactivas clausuradas.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Total Fondos Asignados:</a:t>
            </a:r>
            <a:r>
              <a:rPr b="0">
                <a:solidFill>
                  <a:srgbClr val="2D251E"/>
                </a:solidFill>
              </a:rPr>
              <a:t> Muestra el presupuesto histórico consolidado asignado, considerando incrementos y disminuciones.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Saldo Disponible Total:</a:t>
            </a:r>
            <a:r>
              <a:rPr b="0">
                <a:solidFill>
                  <a:srgbClr val="2D251E"/>
                </a:solidFill>
              </a:rPr>
              <a:t> Visualiza la suma del efectivo real disponible en todas las cajas activas.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Límite Diario Total:</a:t>
            </a:r>
            <a:r>
              <a:rPr b="0">
                <a:solidFill>
                  <a:srgbClr val="2D251E"/>
                </a:solidFill>
              </a:rPr>
              <a:t> Suma agregada de los topes diarios de gastos permitidos en todas las cajas.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Restricción por Seguridad (Roles):</a:t>
            </a:r>
            <a:r>
              <a:rPr b="0">
                <a:solidFill>
                  <a:srgbClr val="2D251E"/>
                </a:solidFill>
              </a:rPr>
              <a:t> Cada rol tiene permisos específicos (configurables en la sección Seguridad) sobre cuáles KPIs puede visualizar en el Dashboard de inicio.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Resumen Rápido de Saldos:</a:t>
            </a:r>
            <a:r>
              <a:rPr b="0">
                <a:solidFill>
                  <a:srgbClr val="2D251E"/>
                </a:solidFill>
              </a:rPr>
              <a:t> Tabla central interactiva que expone en tiempo real las cajas activas, su responsable asignado y su saldo actual con formato de moneda regional.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87164F3-3E0A-2B8F-1C16-CAC54773B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770" y="4234469"/>
            <a:ext cx="4413230" cy="15213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48640"/>
            <a:ext cx="109728" cy="5760720"/>
          </a:xfrm>
          <a:prstGeom prst="rect">
            <a:avLst/>
          </a:prstGeom>
          <a:solidFill>
            <a:srgbClr val="B45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251E"/>
                </a:solidFill>
                <a:latin typeface="Segoe UI"/>
              </a:defRPr>
            </a:pPr>
            <a:r>
              <a:t>3. Administración de Cajas y Fondos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789920" cy="2621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D251E"/>
                </a:solidFill>
                <a:latin typeface="Segoe UI"/>
              </a:defRPr>
            </a:pPr>
            <a:r>
              <a:rPr dirty="0"/>
              <a:t>Control </a:t>
            </a:r>
            <a:r>
              <a:rPr dirty="0" err="1"/>
              <a:t>completo</a:t>
            </a:r>
            <a:r>
              <a:rPr dirty="0"/>
              <a:t> del </a:t>
            </a:r>
            <a:r>
              <a:rPr dirty="0" err="1"/>
              <a:t>ciclo</a:t>
            </a:r>
            <a:r>
              <a:rPr dirty="0"/>
              <a:t> de </a:t>
            </a:r>
            <a:r>
              <a:rPr dirty="0" err="1"/>
              <a:t>vida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fondos</a:t>
            </a:r>
            <a:r>
              <a:rPr dirty="0"/>
              <a:t> </a:t>
            </a:r>
            <a:r>
              <a:rPr dirty="0" err="1"/>
              <a:t>asignados</a:t>
            </a:r>
            <a:r>
              <a:rPr dirty="0"/>
              <a:t> a las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dependencias</a:t>
            </a:r>
            <a:r>
              <a:rPr dirty="0"/>
              <a:t>: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rPr dirty="0"/>
              <a:t>• </a:t>
            </a:r>
            <a:r>
              <a:rPr b="1" dirty="0">
                <a:solidFill>
                  <a:srgbClr val="2D251E"/>
                </a:solidFill>
              </a:rPr>
              <a:t>Alta de </a:t>
            </a:r>
            <a:r>
              <a:rPr b="1" dirty="0" err="1">
                <a:solidFill>
                  <a:srgbClr val="2D251E"/>
                </a:solidFill>
              </a:rPr>
              <a:t>Caja</a:t>
            </a:r>
            <a:r>
              <a:rPr b="1" dirty="0">
                <a:solidFill>
                  <a:srgbClr val="2D251E"/>
                </a:solidFill>
              </a:rPr>
              <a:t>: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Formulario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flotante</a:t>
            </a:r>
            <a:r>
              <a:rPr b="0" dirty="0">
                <a:solidFill>
                  <a:srgbClr val="2D251E"/>
                </a:solidFill>
              </a:rPr>
              <a:t> no-modal. </a:t>
            </a:r>
            <a:r>
              <a:rPr b="0" dirty="0" err="1">
                <a:solidFill>
                  <a:srgbClr val="2D251E"/>
                </a:solidFill>
              </a:rPr>
              <a:t>Requiere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lang="es-419" b="0" dirty="0">
                <a:solidFill>
                  <a:srgbClr val="2D251E"/>
                </a:solidFill>
              </a:rPr>
              <a:t>expediente, </a:t>
            </a:r>
            <a:r>
              <a:rPr b="0" dirty="0" err="1">
                <a:solidFill>
                  <a:srgbClr val="2D251E"/>
                </a:solidFill>
              </a:rPr>
              <a:t>nombre</a:t>
            </a:r>
            <a:r>
              <a:rPr b="0" dirty="0">
                <a:solidFill>
                  <a:srgbClr val="2D251E"/>
                </a:solidFill>
              </a:rPr>
              <a:t>, </a:t>
            </a:r>
            <a:r>
              <a:rPr b="0" dirty="0" err="1">
                <a:solidFill>
                  <a:srgbClr val="2D251E"/>
                </a:solidFill>
              </a:rPr>
              <a:t>área</a:t>
            </a:r>
            <a:r>
              <a:rPr b="0" dirty="0">
                <a:solidFill>
                  <a:srgbClr val="2D251E"/>
                </a:solidFill>
              </a:rPr>
              <a:t>, </a:t>
            </a:r>
            <a:r>
              <a:rPr b="0" dirty="0" err="1">
                <a:solidFill>
                  <a:srgbClr val="2D251E"/>
                </a:solidFill>
              </a:rPr>
              <a:t>tipo</a:t>
            </a:r>
            <a:r>
              <a:rPr lang="es-419" b="0" dirty="0">
                <a:solidFill>
                  <a:srgbClr val="2D251E"/>
                </a:solidFill>
              </a:rPr>
              <a:t> de caja</a:t>
            </a:r>
            <a:r>
              <a:rPr b="0" dirty="0">
                <a:solidFill>
                  <a:srgbClr val="2D251E"/>
                </a:solidFill>
              </a:rPr>
              <a:t>, </a:t>
            </a:r>
            <a:r>
              <a:rPr b="0" dirty="0" err="1">
                <a:solidFill>
                  <a:srgbClr val="2D251E"/>
                </a:solidFill>
              </a:rPr>
              <a:t>documento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oficial</a:t>
            </a:r>
            <a:r>
              <a:rPr b="0" dirty="0">
                <a:solidFill>
                  <a:srgbClr val="2D251E"/>
                </a:solidFill>
              </a:rPr>
              <a:t> de </a:t>
            </a:r>
            <a:r>
              <a:rPr b="0" dirty="0" err="1">
                <a:solidFill>
                  <a:srgbClr val="2D251E"/>
                </a:solidFill>
              </a:rPr>
              <a:t>aprobación</a:t>
            </a:r>
            <a:r>
              <a:rPr b="0" dirty="0">
                <a:solidFill>
                  <a:srgbClr val="2D251E"/>
                </a:solidFill>
              </a:rPr>
              <a:t>, </a:t>
            </a:r>
            <a:r>
              <a:rPr b="0" dirty="0" err="1">
                <a:solidFill>
                  <a:srgbClr val="2D251E"/>
                </a:solidFill>
              </a:rPr>
              <a:t>responsable</a:t>
            </a:r>
            <a:r>
              <a:rPr b="0" dirty="0">
                <a:solidFill>
                  <a:srgbClr val="2D251E"/>
                </a:solidFill>
              </a:rPr>
              <a:t> del </a:t>
            </a:r>
            <a:r>
              <a:rPr b="0" dirty="0" err="1">
                <a:solidFill>
                  <a:srgbClr val="2D251E"/>
                </a:solidFill>
              </a:rPr>
              <a:t>área</a:t>
            </a:r>
            <a:r>
              <a:rPr b="0" dirty="0">
                <a:solidFill>
                  <a:srgbClr val="2D251E"/>
                </a:solidFill>
              </a:rPr>
              <a:t> y </a:t>
            </a:r>
            <a:r>
              <a:rPr b="0" dirty="0" err="1">
                <a:solidFill>
                  <a:srgbClr val="2D251E"/>
                </a:solidFill>
              </a:rPr>
              <a:t>monto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inicial</a:t>
            </a:r>
            <a:r>
              <a:rPr b="0" dirty="0">
                <a:solidFill>
                  <a:srgbClr val="2D251E"/>
                </a:solidFill>
              </a:rPr>
              <a:t>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rPr dirty="0"/>
              <a:t>• </a:t>
            </a:r>
            <a:r>
              <a:rPr b="1" dirty="0">
                <a:solidFill>
                  <a:srgbClr val="2D251E"/>
                </a:solidFill>
              </a:rPr>
              <a:t>Panel de </a:t>
            </a:r>
            <a:r>
              <a:rPr b="1" dirty="0" err="1">
                <a:solidFill>
                  <a:srgbClr val="2D251E"/>
                </a:solidFill>
              </a:rPr>
              <a:t>Detalle</a:t>
            </a:r>
            <a:r>
              <a:rPr b="1" dirty="0">
                <a:solidFill>
                  <a:srgbClr val="2D251E"/>
                </a:solidFill>
              </a:rPr>
              <a:t> de </a:t>
            </a:r>
            <a:r>
              <a:rPr b="1" dirty="0" err="1">
                <a:solidFill>
                  <a:srgbClr val="2D251E"/>
                </a:solidFill>
              </a:rPr>
              <a:t>Caja</a:t>
            </a:r>
            <a:r>
              <a:rPr b="1" dirty="0">
                <a:solidFill>
                  <a:srgbClr val="2D251E"/>
                </a:solidFill>
              </a:rPr>
              <a:t>: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Integrado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dinámicamente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en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el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centro</a:t>
            </a:r>
            <a:r>
              <a:rPr b="0" dirty="0">
                <a:solidFill>
                  <a:srgbClr val="2D251E"/>
                </a:solidFill>
              </a:rPr>
              <a:t>. </a:t>
            </a:r>
            <a:r>
              <a:rPr b="0" dirty="0" err="1">
                <a:solidFill>
                  <a:srgbClr val="2D251E"/>
                </a:solidFill>
              </a:rPr>
              <a:t>Muestra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datos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generales</a:t>
            </a:r>
            <a:r>
              <a:rPr b="0" dirty="0">
                <a:solidFill>
                  <a:srgbClr val="2D251E"/>
                </a:solidFill>
              </a:rPr>
              <a:t>, </a:t>
            </a:r>
            <a:r>
              <a:rPr b="0" dirty="0" err="1">
                <a:solidFill>
                  <a:srgbClr val="2D251E"/>
                </a:solidFill>
              </a:rPr>
              <a:t>límites</a:t>
            </a:r>
            <a:r>
              <a:rPr b="0" dirty="0">
                <a:solidFill>
                  <a:srgbClr val="2D251E"/>
                </a:solidFill>
              </a:rPr>
              <a:t> y </a:t>
            </a:r>
            <a:r>
              <a:rPr b="0" dirty="0" err="1">
                <a:solidFill>
                  <a:srgbClr val="2D251E"/>
                </a:solidFill>
              </a:rPr>
              <a:t>pestañas</a:t>
            </a:r>
            <a:r>
              <a:rPr b="0" dirty="0">
                <a:solidFill>
                  <a:srgbClr val="2D251E"/>
                </a:solidFill>
              </a:rPr>
              <a:t> de </a:t>
            </a:r>
            <a:r>
              <a:rPr b="0" dirty="0" err="1">
                <a:solidFill>
                  <a:srgbClr val="2D251E"/>
                </a:solidFill>
              </a:rPr>
              <a:t>historial</a:t>
            </a:r>
            <a:r>
              <a:rPr b="0" dirty="0">
                <a:solidFill>
                  <a:srgbClr val="2D251E"/>
                </a:solidFill>
              </a:rPr>
              <a:t>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rPr dirty="0"/>
              <a:t>• </a:t>
            </a:r>
            <a:r>
              <a:rPr b="1" dirty="0" err="1">
                <a:solidFill>
                  <a:srgbClr val="2D251E"/>
                </a:solidFill>
              </a:rPr>
              <a:t>Historial</a:t>
            </a:r>
            <a:r>
              <a:rPr b="1" dirty="0">
                <a:solidFill>
                  <a:srgbClr val="2D251E"/>
                </a:solidFill>
              </a:rPr>
              <a:t> de </a:t>
            </a:r>
            <a:r>
              <a:rPr b="1" dirty="0" err="1">
                <a:solidFill>
                  <a:srgbClr val="2D251E"/>
                </a:solidFill>
              </a:rPr>
              <a:t>Responsables</a:t>
            </a:r>
            <a:r>
              <a:rPr b="1" dirty="0">
                <a:solidFill>
                  <a:srgbClr val="2D251E"/>
                </a:solidFill>
              </a:rPr>
              <a:t>: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Permite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delegar</a:t>
            </a:r>
            <a:r>
              <a:rPr b="0" dirty="0">
                <a:solidFill>
                  <a:srgbClr val="2D251E"/>
                </a:solidFill>
              </a:rPr>
              <a:t> la </a:t>
            </a:r>
            <a:r>
              <a:rPr b="0" dirty="0" err="1">
                <a:solidFill>
                  <a:srgbClr val="2D251E"/>
                </a:solidFill>
              </a:rPr>
              <a:t>administración</a:t>
            </a:r>
            <a:r>
              <a:rPr b="0" dirty="0">
                <a:solidFill>
                  <a:srgbClr val="2D251E"/>
                </a:solidFill>
              </a:rPr>
              <a:t> del </a:t>
            </a:r>
            <a:r>
              <a:rPr b="0" dirty="0" err="1">
                <a:solidFill>
                  <a:srgbClr val="2D251E"/>
                </a:solidFill>
              </a:rPr>
              <a:t>fondo</a:t>
            </a:r>
            <a:r>
              <a:rPr b="0" dirty="0">
                <a:solidFill>
                  <a:srgbClr val="2D251E"/>
                </a:solidFill>
              </a:rPr>
              <a:t>, </a:t>
            </a:r>
            <a:r>
              <a:rPr b="0" dirty="0" err="1">
                <a:solidFill>
                  <a:srgbClr val="2D251E"/>
                </a:solidFill>
              </a:rPr>
              <a:t>asignar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nuevos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encargados</a:t>
            </a:r>
            <a:r>
              <a:rPr b="0" dirty="0">
                <a:solidFill>
                  <a:srgbClr val="2D251E"/>
                </a:solidFill>
              </a:rPr>
              <a:t> o </a:t>
            </a:r>
            <a:r>
              <a:rPr b="0" dirty="0" err="1">
                <a:solidFill>
                  <a:srgbClr val="2D251E"/>
                </a:solidFill>
              </a:rPr>
              <a:t>programar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su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fecha</a:t>
            </a:r>
            <a:r>
              <a:rPr b="0" dirty="0">
                <a:solidFill>
                  <a:srgbClr val="2D251E"/>
                </a:solidFill>
              </a:rPr>
              <a:t> de </a:t>
            </a:r>
            <a:r>
              <a:rPr b="0" dirty="0" err="1">
                <a:solidFill>
                  <a:srgbClr val="2D251E"/>
                </a:solidFill>
              </a:rPr>
              <a:t>baja</a:t>
            </a:r>
            <a:r>
              <a:rPr b="0" dirty="0">
                <a:solidFill>
                  <a:srgbClr val="2D251E"/>
                </a:solidFill>
              </a:rPr>
              <a:t>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rPr dirty="0"/>
              <a:t>• </a:t>
            </a:r>
            <a:r>
              <a:rPr b="1" dirty="0" err="1">
                <a:solidFill>
                  <a:srgbClr val="2D251E"/>
                </a:solidFill>
              </a:rPr>
              <a:t>Historial</a:t>
            </a:r>
            <a:r>
              <a:rPr b="1" dirty="0">
                <a:solidFill>
                  <a:srgbClr val="2D251E"/>
                </a:solidFill>
              </a:rPr>
              <a:t> de </a:t>
            </a:r>
            <a:r>
              <a:rPr b="1" dirty="0" err="1">
                <a:solidFill>
                  <a:srgbClr val="2D251E"/>
                </a:solidFill>
              </a:rPr>
              <a:t>Variación</a:t>
            </a:r>
            <a:r>
              <a:rPr b="1" dirty="0">
                <a:solidFill>
                  <a:srgbClr val="2D251E"/>
                </a:solidFill>
              </a:rPr>
              <a:t> de </a:t>
            </a:r>
            <a:r>
              <a:rPr b="1" dirty="0" err="1">
                <a:solidFill>
                  <a:srgbClr val="2D251E"/>
                </a:solidFill>
              </a:rPr>
              <a:t>Fondos</a:t>
            </a:r>
            <a:r>
              <a:rPr b="1" dirty="0">
                <a:solidFill>
                  <a:srgbClr val="2D251E"/>
                </a:solidFill>
              </a:rPr>
              <a:t>: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Registro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transaccional</a:t>
            </a:r>
            <a:r>
              <a:rPr b="0" dirty="0">
                <a:solidFill>
                  <a:srgbClr val="2D251E"/>
                </a:solidFill>
              </a:rPr>
              <a:t> de '</a:t>
            </a:r>
            <a:r>
              <a:rPr b="0" dirty="0" err="1">
                <a:solidFill>
                  <a:srgbClr val="2D251E"/>
                </a:solidFill>
              </a:rPr>
              <a:t>Incrementos</a:t>
            </a:r>
            <a:r>
              <a:rPr b="0" dirty="0">
                <a:solidFill>
                  <a:srgbClr val="2D251E"/>
                </a:solidFill>
              </a:rPr>
              <a:t>' o '</a:t>
            </a:r>
            <a:r>
              <a:rPr b="0" dirty="0" err="1">
                <a:solidFill>
                  <a:srgbClr val="2D251E"/>
                </a:solidFill>
              </a:rPr>
              <a:t>Disminuciones</a:t>
            </a:r>
            <a:r>
              <a:rPr b="0" dirty="0">
                <a:solidFill>
                  <a:srgbClr val="2D251E"/>
                </a:solidFill>
              </a:rPr>
              <a:t>’ </a:t>
            </a:r>
            <a:r>
              <a:rPr lang="es-419" b="0" dirty="0">
                <a:solidFill>
                  <a:srgbClr val="2D251E"/>
                </a:solidFill>
              </a:rPr>
              <a:t>con su respectivo documento aprobatorio</a:t>
            </a:r>
            <a:r>
              <a:rPr b="0" dirty="0">
                <a:solidFill>
                  <a:srgbClr val="2D251E"/>
                </a:solidFill>
              </a:rPr>
              <a:t>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rPr dirty="0"/>
              <a:t>• </a:t>
            </a:r>
            <a:r>
              <a:rPr b="1" dirty="0" err="1">
                <a:solidFill>
                  <a:srgbClr val="2D251E"/>
                </a:solidFill>
              </a:rPr>
              <a:t>Reporte</a:t>
            </a:r>
            <a:r>
              <a:rPr b="1" dirty="0">
                <a:solidFill>
                  <a:srgbClr val="2D251E"/>
                </a:solidFill>
              </a:rPr>
              <a:t> </a:t>
            </a:r>
            <a:r>
              <a:rPr b="1" dirty="0" err="1">
                <a:solidFill>
                  <a:srgbClr val="2D251E"/>
                </a:solidFill>
              </a:rPr>
              <a:t>Imprimible</a:t>
            </a:r>
            <a:r>
              <a:rPr b="1" dirty="0">
                <a:solidFill>
                  <a:srgbClr val="2D251E"/>
                </a:solidFill>
              </a:rPr>
              <a:t> </a:t>
            </a:r>
            <a:r>
              <a:rPr b="1" dirty="0" err="1">
                <a:solidFill>
                  <a:srgbClr val="2D251E"/>
                </a:solidFill>
              </a:rPr>
              <a:t>Oficial</a:t>
            </a:r>
            <a:r>
              <a:rPr b="1" dirty="0">
                <a:solidFill>
                  <a:srgbClr val="2D251E"/>
                </a:solidFill>
              </a:rPr>
              <a:t>:</a:t>
            </a:r>
            <a:r>
              <a:rPr b="0" dirty="0">
                <a:solidFill>
                  <a:srgbClr val="2D251E"/>
                </a:solidFill>
              </a:rPr>
              <a:t> Genera un </a:t>
            </a:r>
            <a:r>
              <a:rPr b="0" dirty="0" err="1">
                <a:solidFill>
                  <a:srgbClr val="2D251E"/>
                </a:solidFill>
              </a:rPr>
              <a:t>informe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en</a:t>
            </a:r>
            <a:r>
              <a:rPr b="0" dirty="0">
                <a:solidFill>
                  <a:srgbClr val="2D251E"/>
                </a:solidFill>
              </a:rPr>
              <a:t> HTML </a:t>
            </a:r>
            <a:r>
              <a:rPr b="0" dirty="0" err="1">
                <a:solidFill>
                  <a:srgbClr val="2D251E"/>
                </a:solidFill>
              </a:rPr>
              <a:t>compilando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el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saldo</a:t>
            </a:r>
            <a:r>
              <a:rPr b="0" dirty="0">
                <a:solidFill>
                  <a:srgbClr val="2D251E"/>
                </a:solidFill>
              </a:rPr>
              <a:t> actual, </a:t>
            </a:r>
            <a:r>
              <a:rPr b="0" dirty="0" err="1">
                <a:solidFill>
                  <a:srgbClr val="2D251E"/>
                </a:solidFill>
              </a:rPr>
              <a:t>responsables</a:t>
            </a:r>
            <a:r>
              <a:rPr b="0" dirty="0">
                <a:solidFill>
                  <a:srgbClr val="2D251E"/>
                </a:solidFill>
              </a:rPr>
              <a:t> y </a:t>
            </a:r>
            <a:r>
              <a:rPr b="0" dirty="0" err="1">
                <a:solidFill>
                  <a:srgbClr val="2D251E"/>
                </a:solidFill>
              </a:rPr>
              <a:t>rendiciones</a:t>
            </a:r>
            <a:r>
              <a:rPr b="0" dirty="0">
                <a:solidFill>
                  <a:srgbClr val="2D251E"/>
                </a:solidFill>
              </a:rPr>
              <a:t>. </a:t>
            </a:r>
            <a:r>
              <a:rPr b="0" dirty="0" err="1">
                <a:solidFill>
                  <a:srgbClr val="2D251E"/>
                </a:solidFill>
              </a:rPr>
              <a:t>Posee</a:t>
            </a:r>
            <a:r>
              <a:rPr b="0" dirty="0">
                <a:solidFill>
                  <a:srgbClr val="2D251E"/>
                </a:solidFill>
              </a:rPr>
              <a:t> vista previa e </a:t>
            </a:r>
            <a:r>
              <a:rPr b="0" dirty="0" err="1">
                <a:solidFill>
                  <a:srgbClr val="2D251E"/>
                </a:solidFill>
              </a:rPr>
              <a:t>impresión</a:t>
            </a:r>
            <a:r>
              <a:rPr b="0" dirty="0">
                <a:solidFill>
                  <a:srgbClr val="2D251E"/>
                </a:solidFill>
              </a:rPr>
              <a:t> a </a:t>
            </a:r>
            <a:r>
              <a:rPr b="0" dirty="0" err="1">
                <a:solidFill>
                  <a:srgbClr val="2D251E"/>
                </a:solidFill>
              </a:rPr>
              <a:t>papel</a:t>
            </a:r>
            <a:r>
              <a:rPr b="0" dirty="0">
                <a:solidFill>
                  <a:srgbClr val="2D251E"/>
                </a:solidFill>
              </a:rPr>
              <a:t> o </a:t>
            </a:r>
            <a:r>
              <a:rPr b="0" dirty="0" err="1">
                <a:solidFill>
                  <a:srgbClr val="2D251E"/>
                </a:solidFill>
              </a:rPr>
              <a:t>exportación</a:t>
            </a:r>
            <a:r>
              <a:rPr b="0" dirty="0">
                <a:solidFill>
                  <a:srgbClr val="2D251E"/>
                </a:solidFill>
              </a:rPr>
              <a:t> </a:t>
            </a:r>
            <a:r>
              <a:rPr b="0" dirty="0" err="1">
                <a:solidFill>
                  <a:srgbClr val="2D251E"/>
                </a:solidFill>
              </a:rPr>
              <a:t>directa</a:t>
            </a:r>
            <a:r>
              <a:rPr b="0" dirty="0">
                <a:solidFill>
                  <a:srgbClr val="2D251E"/>
                </a:solidFill>
              </a:rPr>
              <a:t> a PDF </a:t>
            </a:r>
            <a:r>
              <a:rPr b="0" dirty="0" err="1">
                <a:solidFill>
                  <a:srgbClr val="2D251E"/>
                </a:solidFill>
              </a:rPr>
              <a:t>nativo</a:t>
            </a:r>
            <a:r>
              <a:rPr b="0" dirty="0">
                <a:solidFill>
                  <a:srgbClr val="2D251E"/>
                </a:solidFill>
              </a:rPr>
              <a:t> del S.O.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14AA8899-6966-5562-FA73-57772B1047E8}"/>
              </a:ext>
            </a:extLst>
          </p:cNvPr>
          <p:cNvGrpSpPr/>
          <p:nvPr/>
        </p:nvGrpSpPr>
        <p:grpSpPr>
          <a:xfrm>
            <a:off x="822960" y="3992830"/>
            <a:ext cx="5108949" cy="720990"/>
            <a:chOff x="665342" y="3992830"/>
            <a:chExt cx="5108949" cy="720990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2EB0A3DF-A2D9-62CA-B154-DBDA3EDE0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5342" y="3992830"/>
              <a:ext cx="5108949" cy="720990"/>
            </a:xfrm>
            <a:prstGeom prst="rect">
              <a:avLst/>
            </a:prstGeom>
          </p:spPr>
        </p:pic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02EDF5A1-5CEE-7FC7-A548-89825B6BE787}"/>
                </a:ext>
              </a:extLst>
            </p:cNvPr>
            <p:cNvCxnSpPr/>
            <p:nvPr/>
          </p:nvCxnSpPr>
          <p:spPr>
            <a:xfrm flipV="1">
              <a:off x="4117868" y="4209922"/>
              <a:ext cx="312983" cy="2025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5F5B6435-E611-70BB-D473-E912DC256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244" y="4153894"/>
            <a:ext cx="2107210" cy="215546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1FCA58D-474D-68C6-7FE1-1CF0117EB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353" y="4784049"/>
            <a:ext cx="2877345" cy="111352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8D4FB4F-CB07-1521-8791-4161C04345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1314" y="5465988"/>
            <a:ext cx="2733212" cy="50181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2B4B389-2694-EAEE-3771-89D8582D56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3469" y="5866504"/>
            <a:ext cx="3181674" cy="534296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6E396C2-F1BE-E4EF-FE0C-04B0A45D8E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0558" y="3723380"/>
            <a:ext cx="2304125" cy="1942866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BE086FF5-09F0-5AB3-087F-F5B2BD865C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1953" y="3901390"/>
            <a:ext cx="2615357" cy="15532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48640"/>
            <a:ext cx="109728" cy="5760720"/>
          </a:xfrm>
          <a:prstGeom prst="rect">
            <a:avLst/>
          </a:prstGeom>
          <a:solidFill>
            <a:srgbClr val="B45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251E"/>
                </a:solidFill>
                <a:latin typeface="Segoe UI"/>
              </a:defRPr>
            </a:pPr>
            <a:r>
              <a:t>4. Gestión de Gastos y Salidas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D251E"/>
                </a:solidFill>
                <a:latin typeface="Segoe UI"/>
              </a:defRPr>
            </a:pPr>
            <a:r>
              <a:t>Flujo operativo de consumo de fondos de la caja seleccionada. Admite dos modalidades principales:</a:t>
            </a:r>
          </a:p>
          <a:p>
            <a:pPr>
              <a:spcAft>
                <a:spcPts val="6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1. Salida a Persona (Compras por Terceros):</a:t>
            </a:r>
            <a:r>
              <a:rPr b="0">
                <a:solidFill>
                  <a:srgbClr val="2D251E"/>
                </a:solidFill>
              </a:rPr>
              <a:t> Para adelantar dinero a un agente autorizado para realizar adquisiciones.</a:t>
            </a:r>
          </a:p>
          <a:p>
            <a:pPr>
              <a:spcAft>
                <a:spcPts val="6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      </a:t>
            </a:r>
            <a:r>
              <a:rPr b="1">
                <a:solidFill>
                  <a:srgbClr val="2D251E"/>
                </a:solidFill>
              </a:rPr>
              <a:t>   - Registro inicial:</a:t>
            </a:r>
            <a:r>
              <a:rPr b="0">
                <a:solidFill>
                  <a:srgbClr val="2D251E"/>
                </a:solidFill>
              </a:rPr>
              <a:t> Genera una salida en estado 'PENDIENTE' detallando destinatario, motivo y CBU/Alias.</a:t>
            </a:r>
          </a:p>
          <a:p>
            <a:pPr>
              <a:spcAft>
                <a:spcPts val="6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      </a:t>
            </a:r>
            <a:r>
              <a:rPr b="1">
                <a:solidFill>
                  <a:srgbClr val="2D251E"/>
                </a:solidFill>
              </a:rPr>
              <a:t>   - Carga de Comprobantes:</a:t>
            </a:r>
            <a:r>
              <a:rPr b="0">
                <a:solidFill>
                  <a:srgbClr val="2D251E"/>
                </a:solidFill>
              </a:rPr>
              <a:t> El agente presenta facturas parciales (Facturas A, B, C, Tickets) que se cargan y acumulan a su favor.</a:t>
            </a:r>
          </a:p>
          <a:p>
            <a:pPr>
              <a:spcAft>
                <a:spcPts val="6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      </a:t>
            </a:r>
            <a:r>
              <a:rPr b="1">
                <a:solidFill>
                  <a:srgbClr val="2D251E"/>
                </a:solidFill>
              </a:rPr>
              <a:t>   - Cierre de Salida:</a:t>
            </a:r>
            <a:r>
              <a:rPr b="0">
                <a:solidFill>
                  <a:srgbClr val="2D251E"/>
                </a:solidFill>
              </a:rPr>
              <a:t> El operador registra la devolución de fondos (vuelto/sobrante) por efectivo o transferencia, cerrando la salida.</a:t>
            </a:r>
          </a:p>
          <a:p>
            <a:pPr>
              <a:spcAft>
                <a:spcPts val="6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2. Salida Directa (Pago a Proveedores):</a:t>
            </a:r>
            <a:r>
              <a:rPr b="0">
                <a:solidFill>
                  <a:srgbClr val="2D251E"/>
                </a:solidFill>
              </a:rPr>
              <a:t> Para compras o pagos inmediatos a comercios en una sola acción.</a:t>
            </a:r>
          </a:p>
          <a:p>
            <a:pPr>
              <a:spcAft>
                <a:spcPts val="6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      </a:t>
            </a:r>
            <a:r>
              <a:rPr b="1">
                <a:solidFill>
                  <a:srgbClr val="2D251E"/>
                </a:solidFill>
              </a:rPr>
              <a:t>   - Registro y Carga:</a:t>
            </a:r>
            <a:r>
              <a:rPr b="0">
                <a:solidFill>
                  <a:srgbClr val="2D251E"/>
                </a:solidFill>
              </a:rPr>
              <a:t> Solicita los datos de la factura (CUIT, número, CAE, vencimiento, importe) y el motivo.</a:t>
            </a:r>
          </a:p>
          <a:p>
            <a:pPr>
              <a:spcAft>
                <a:spcPts val="6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      </a:t>
            </a:r>
            <a:r>
              <a:rPr b="1">
                <a:solidFill>
                  <a:srgbClr val="2D251E"/>
                </a:solidFill>
              </a:rPr>
              <a:t>   - Estado:</a:t>
            </a:r>
            <a:r>
              <a:rPr b="0">
                <a:solidFill>
                  <a:srgbClr val="2D251E"/>
                </a:solidFill>
              </a:rPr>
              <a:t> Pasa inmediatamente a estado 'RENDIDA' integrándose en el saldo de gastos.</a:t>
            </a:r>
          </a:p>
          <a:p>
            <a:pPr>
              <a:spcAft>
                <a:spcPts val="6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Formato de Moneda Dinámico:</a:t>
            </a:r>
            <a:r>
              <a:rPr b="0">
                <a:solidFill>
                  <a:srgbClr val="2D251E"/>
                </a:solidFill>
              </a:rPr>
              <a:t> Todos los campos de importes de gastos impiden caracteres inválidos y se formatean como moneda ($ 1.250,00) en tiempo real mientras escribe.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48640"/>
            <a:ext cx="109728" cy="5760720"/>
          </a:xfrm>
          <a:prstGeom prst="rect">
            <a:avLst/>
          </a:prstGeom>
          <a:solidFill>
            <a:srgbClr val="B45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251E"/>
                </a:solidFill>
                <a:latin typeface="Segoe UI"/>
              </a:defRPr>
            </a:pPr>
            <a:r>
              <a:t>5. Proceso de Rendiciones y Reposición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D251E"/>
                </a:solidFill>
                <a:latin typeface="Segoe UI"/>
              </a:defRPr>
            </a:pPr>
            <a:r>
              <a:t>Mecanismo formal e integral de reintegro de fondos gastados al presupuesto disponible de las cajas: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Creación de Rendición (Parcial o Final):</a:t>
            </a:r>
            <a:r>
              <a:rPr b="0">
                <a:solidFill>
                  <a:srgbClr val="2D251E"/>
                </a:solidFill>
              </a:rPr>
              <a:t> Consolida un conjunto de comprobantes acumulados. Se asocia la Nota de Elevación oficial indicando número, año y fecha de rendición.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Aprobación del Gasto (Auditoría):</a:t>
            </a:r>
            <a:r>
              <a:rPr b="0">
                <a:solidFill>
                  <a:srgbClr val="2D251E"/>
                </a:solidFill>
              </a:rPr>
              <a:t> Administradores o Controladores auditan los gastos. Aprueban formalmente ingresando el número y fecha del Decreto o Resolución de aprobación.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Recepción de Reposición (Reintegro):</a:t>
            </a:r>
            <a:r>
              <a:rPr b="0">
                <a:solidFill>
                  <a:srgbClr val="2D251E"/>
                </a:solidFill>
              </a:rPr>
              <a:t> Se ingresa la fecha real de acreditación de la transferencia de reintegro. El sistema actualiza el saldo disponible de la caja sumándole el monto total rendido.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Rendición Final (Clausura):</a:t>
            </a:r>
            <a:r>
              <a:rPr b="0">
                <a:solidFill>
                  <a:srgbClr val="2D251E"/>
                </a:solidFill>
              </a:rPr>
              <a:t> Se inicia el cierre definitivo del fondo. Exige la consolidación de todos los gastos y la devolución por transferencia del saldo restante, dando de baja la caja.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Trazabilidad en Estados de Rendición:</a:t>
            </a:r>
            <a:r>
              <a:rPr b="0">
                <a:solidFill>
                  <a:srgbClr val="2D251E"/>
                </a:solidFill>
              </a:rPr>
              <a:t> Pendiente Aprobación (Amarillo pastel) ➜ Aprobada (Verde pastel) ➜ Repositada (Azul pastel).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48640"/>
            <a:ext cx="109728" cy="5760720"/>
          </a:xfrm>
          <a:prstGeom prst="rect">
            <a:avLst/>
          </a:prstGeom>
          <a:solidFill>
            <a:srgbClr val="B45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251E"/>
                </a:solidFill>
                <a:latin typeface="Segoe UI"/>
              </a:defRPr>
            </a:pPr>
            <a:r>
              <a:t>6. Cierre de Ejercicio y Auxiliares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D251E"/>
                </a:solidFill>
                <a:latin typeface="Segoe UI"/>
              </a:defRPr>
            </a:pPr>
            <a:r>
              <a:t>Procesos globales de fin de ciclo y parametrizaciones del sistema contable: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Cierre de Ejercicio Contable:</a:t>
            </a:r>
            <a:r>
              <a:rPr b="0">
                <a:solidFill>
                  <a:srgbClr val="2D251E"/>
                </a:solidFill>
              </a:rPr>
              <a:t> Proceso definitivo e irreversible. Al clausurar un año económico, se bloquean todas las cajas pertenecientes a él. Impide crear gastos, rendir o realizar movimientos.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Habilitación de Nuevo Ejercicio:</a:t>
            </a:r>
            <a:r>
              <a:rPr b="0">
                <a:solidFill>
                  <a:srgbClr val="2D251E"/>
                </a:solidFill>
              </a:rPr>
              <a:t> Permite dar de alta el año siguiente (ej. 2027) para iniciar cajas limpias sobre el nuevo presupuesto anual.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Configuración de Áreas y Personas:</a:t>
            </a:r>
            <a:r>
              <a:rPr b="0">
                <a:solidFill>
                  <a:srgbClr val="2D251E"/>
                </a:solidFill>
              </a:rPr>
              <a:t> Permite estructurar la jerarquía de departamentos (con áreas padre) y registrar los DNI, nombres y teléfonos del personal.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Configuración de Tipos de Cajas:</a:t>
            </a:r>
            <a:r>
              <a:rPr b="0">
                <a:solidFill>
                  <a:srgbClr val="2D251E"/>
                </a:solidFill>
              </a:rPr>
              <a:t> Establece restricciones de seguridad (importe máximo diario permitido y cantidad tope de comprobantes de un mismo proveedor por día) para mitigar desvíos.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Configuración General:</a:t>
            </a:r>
            <a:r>
              <a:rPr b="0">
                <a:solidFill>
                  <a:srgbClr val="2D251E"/>
                </a:solidFill>
              </a:rPr>
              <a:t> Permite cambiar los datos de la empresa y configurar membretes de impresión (Encabezado y Pie de página de reportes).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48640"/>
            <a:ext cx="109728" cy="5760720"/>
          </a:xfrm>
          <a:prstGeom prst="rect">
            <a:avLst/>
          </a:prstGeom>
          <a:solidFill>
            <a:srgbClr val="B45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251E"/>
                </a:solidFill>
                <a:latin typeface="Segoe UI"/>
              </a:defRPr>
            </a:pPr>
            <a:r>
              <a:t>7. Seguridad y Control de Accesos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D251E"/>
                </a:solidFill>
                <a:latin typeface="Segoe UI"/>
              </a:defRPr>
            </a:pPr>
            <a:r>
              <a:t>Administración robusta de perfiles y seguridad de transacciones de usuarios en el sistema: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Usuarios del Sistema:</a:t>
            </a:r>
            <a:r>
              <a:rPr b="0">
                <a:solidFill>
                  <a:srgbClr val="2D251E"/>
                </a:solidFill>
              </a:rPr>
              <a:t> Alta de operadores asignando credenciales de acceso, estado de cuenta y su correspondiente Rol.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Asignación de Permisos de Módulo:</a:t>
            </a:r>
            <a:r>
              <a:rPr b="0">
                <a:solidFill>
                  <a:srgbClr val="2D251E"/>
                </a:solidFill>
              </a:rPr>
              <a:t> Controla qué accesos de la barra de navegación lateral izquierda puede ver cada rol (ej: ocultar la pestaña 'Seguridad' a operadores estándar).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Asignación de Permisos de Operaciones:</a:t>
            </a:r>
            <a:r>
              <a:rPr b="0">
                <a:solidFill>
                  <a:srgbClr val="2D251E"/>
                </a:solidFill>
              </a:rPr>
              <a:t> Define privilegios críticos a nivel de código (ej: el permiso APROBAR_RENDICION para administradores/controladores, o MODIFICAR_TIPO_CAJA).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Asignación de KPIs del Dashboard:</a:t>
            </a:r>
            <a:r>
              <a:rPr b="0">
                <a:solidFill>
                  <a:srgbClr val="2D251E"/>
                </a:solidFill>
              </a:rPr>
              <a:t> Configura mediante checkboxes qué tarjetas analíticas de rendimiento del dashboard de inicio puede visualizar cada rol.</a:t>
            </a:r>
          </a:p>
          <a:p>
            <a:pPr>
              <a:spcAft>
                <a:spcPts val="800"/>
              </a:spcAft>
              <a:defRPr sz="1400" b="1">
                <a:solidFill>
                  <a:srgbClr val="B45E3D"/>
                </a:solidFill>
                <a:latin typeface="Segoe UI"/>
              </a:defRPr>
            </a:pPr>
            <a:r>
              <a:t>• </a:t>
            </a:r>
            <a:r>
              <a:rPr b="1">
                <a:solidFill>
                  <a:srgbClr val="2D251E"/>
                </a:solidFill>
              </a:rPr>
              <a:t>Generación Automática de Credenciales:</a:t>
            </a:r>
            <a:r>
              <a:rPr b="0">
                <a:solidFill>
                  <a:srgbClr val="2D251E"/>
                </a:solidFill>
              </a:rPr>
              <a:t> Al asignar un responsable a una caja chica, si este no posee usuario en el sistema, el software autogenera su usuario (inicial del nombre + apellido) y le otorga acceso básico de forma automática.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1251</Words>
  <Application>Microsoft Office PowerPoint</Application>
  <PresentationFormat>Panorámica</PresentationFormat>
  <Paragraphs>57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Sergio Olmedo</cp:lastModifiedBy>
  <cp:revision>2</cp:revision>
  <dcterms:created xsi:type="dcterms:W3CDTF">2013-01-27T09:14:16Z</dcterms:created>
  <dcterms:modified xsi:type="dcterms:W3CDTF">2026-06-21T23:10:50Z</dcterms:modified>
  <cp:category/>
</cp:coreProperties>
</file>